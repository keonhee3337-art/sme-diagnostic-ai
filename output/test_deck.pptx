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Korean manufacturing SME, 400 employees, produces automotive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CCD6E8"/>
                </a:solidFill>
                <a:latin typeface="Calibri"/>
              </a:rPr>
              <a:t>영업이익률이 3년 연속 하락하고 있음. 원인이 뭔지, 어떻게 회복할 수 있는지 모름.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04040"/>
                </a:solidFill>
                <a:latin typeface="Calibri"/>
              </a:rPr>
              <a:t>SME Business Diagnostic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Key Recommendations: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1. Raw Material Hedging Program — Impact: HIGH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2. OEE Improvement Initiative — Impact: HIGH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3. EV Component Diversification — Impact: HIGH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Key Market Finding: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Korean auto parts manufacturers average COGS ratio of 72-75%. Raw material costs increased 18% YoY in 2023. Labor costs rose 5.1%.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ROOT: Declining operating margin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[Cost of Goods Sold]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   - Raw material cost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   - Labor cost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[Revenue per Unit]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   - Pricing power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   - Customer mix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[Operating Efficiency]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   - Yield rate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   - Overhead absorption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Hypotheses Investigated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☐  Hypothesis: Raw material cost increases are the primary driver of margin compression.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☐  Hypothesis: Pricing power has eroded due to competition from Chinese manufacturers.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☐  Hypothesis: Operational inefficiencies have worsened due to aging equipment.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Market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[Cost of Goods Sold]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Korean auto parts manufacturers average COGS ratio of 72-75%. Raw material costs increased 18% YoY in 2023. Labor costs rose 5.1%.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[Revenue per Unit]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Average selling price for mid-tier auto components declined 3.2%. Hyundai/Kia pushed suppliers on cost reduction. Tier-2 suppliers face stronger pressure.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[Operating Efficiency]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Industry average OEE for Korean auto parts is 68%. Top quartile achieves 82%+. Smart factory adoption at 34% of mid-size manufacturers.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[Market Outlook]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EV transition accelerating — ICE component demand projected to decline 12% by 2027. Suppliers need to diversify into EV parts or face structural revenue decline.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Area                        | Your Position  | Industry Benchmark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-----------------------------------------------------------------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Cost of Goods Sold          | Under review   | 75%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Revenue per Unit            | Under review   | 3.2%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Operating Efficiency        | Under review   | 68%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Problem Classification: OPERATIONS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Core Issue: Declining operating margin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Primary Hypothesis: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Hypothesis: Raw material cost increases are the primary driver of margin compression.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Supporting Evidence: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Korean auto parts manufacturers average COGS ratio of 72-75%. Raw material costs increased 18% YoY in 2023. Labor costs rose 5.1%.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1. Raw Material Hedging Program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Implement a 6-month forward contract hedging strategy for steel and aluminum. Partner with a Korean commodity broker to lock in prices. This directly addresses the 18% raw mater...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Impact: HIGH  |  Feasibility: HIGH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2. OEE Improvement Initiative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Deploy IoT sensors on top 5 production lines to track OEE in real-time. Target improvement from estimated 62% to 72% within 6 months. ROI payback estimated at 14 months based on...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Impact: HIGH  |  Feasibility: MEDIUM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3. EV Component Diversification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Identify 2 EV component categories where existing tooling can be repurposed. Apply for Korean government EV supply chain grant (deadline Q3). Begin pilot production run for Tier...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Impact: HIGH  |  Feasibility: MEDIUM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4. Pricing Renegotiation with Tier-1 Customers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Use raw material cost data to renegotiate pricing with Hyundai/Kia. Present cost pass-through model with 6-month lag. Industry peers have secured 2-4% ASP increases using this a...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Impact: MEDIUM  |  Feasibility: MEDIUM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5. Fixed Cost Reduction via Overhead Audit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Conduct a 30-day overhead absorption audit. Identify underutilized shifts and consolidate production lines. Target 8% SG&amp;A reduction within 90 days.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 Impact: MEDIUM  |  Feasibility: HIGH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H1 (0-3 months) — Quick Wins [High Feasibility]: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- Raw Material Hedging Program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- Fixed Cost Reduction via Overhead Audit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H2 (3-6 months) — Core Initiatives [Medium Feasibility]: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- OEE Improvement Initiative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- EV Component Diversification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- Pricing Renegotiation with Tier-1 Customers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H3 (6-12 months) — Strategic Bets [Lower Feasibility]: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- (none)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ROI &amp; 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Recommendation                    | KPI Target               | Measurement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--------------------------------------------------------------------------------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Raw Material Hedging Program     | Cost reduction (%)       | Monthly review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OEE Improvement Initiative       | Operating KPI improvement (%) | Monthly review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  EV Component Diversification     | Operating KPI improvement (%) | Monthly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Next Steps (30 Days)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Focused on: Raw Material Hedging Program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Context: Implement a 6-month forward contract hedging strategy for steel and aluminum. Partner with a Korean commodity broker to lock in prices. This direct...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1. Assign workstream owner for 'Raw Material Hedging Program'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2. Conduct internal data audit to baseline current performance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3. Identify 2-3 pilot units / departments to run proof-of-concept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4. Set 30-day KPI targets and establish tracking mechanism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  <a:latin typeface="Calibri"/>
              </a:rPr>
              <a:t>5. Schedule weekly check-in — report progress to leadership by Day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